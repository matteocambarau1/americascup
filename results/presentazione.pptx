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597"/>
    <p:restoredTop sz="94610"/>
  </p:normalViewPr>
  <p:slideViewPr>
    <p:cSldViewPr snapToGrid="0" snapToObjects="1">
      <p:cViewPr varScale="1">
        <p:scale>
          <a:sx n="157" d="100"/>
          <a:sy n="157" d="100"/>
        </p:scale>
        <p:origin x="42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60592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1887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C8A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America's Cup 2026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214884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Analisi dell'impatto turistico attraverso NLP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2011680" y="2880360"/>
            <a:ext cx="5120640" cy="0"/>
          </a:xfrm>
          <a:prstGeom prst="line">
            <a:avLst/>
          </a:prstGeom>
          <a:noFill/>
          <a:ln w="9525">
            <a:solidFill>
              <a:srgbClr val="C8A84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731520" y="306324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Matteo Cambarau  ·  Web Analytics e Analisi Testuale  ·  DSBAI UniCA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356616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A.A. 2025/2026  ·  Prof. Marco Ortu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Domanda di ricerca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53035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L'America's Cup ha modificato il sentiment delle recensioni turistiche a Cagliari?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osservano differenze rispetto alla città di controllo (Olbia)?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pattern 2026 differisce dal baseline 2025?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035040" y="1051560"/>
            <a:ext cx="2743200" cy="3749040"/>
          </a:xfrm>
          <a:prstGeom prst="roundRect">
            <a:avLst>
              <a:gd name="adj" fmla="val 3333"/>
            </a:avLst>
          </a:prstGeom>
          <a:solidFill>
            <a:srgbClr val="F4F6FA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6080760" y="114300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Finestre temporali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126480" y="16002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126480" y="19476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apr – 20 mag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126480" y="26060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126480" y="29535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mag – 24 mag 2026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126480" y="36118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126480" y="39593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mag – 15 giu 2026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— 15.509 recensioni Booking.com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24128"/>
          <a:ext cx="8229600" cy="288036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Città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Finestra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2025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Cagliari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5.090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4.256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Cagliari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Cagliari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1.452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Olbia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2.048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Olbia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Olbia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1.028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3891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Booking.com via Selenium (recensioni verificate)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Olbia 2025 non raccolta: confronto sincronico Cagliari vs Olbia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NLP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347472" y="1691640"/>
            <a:ext cx="1444752" cy="1737360"/>
          </a:xfrm>
          <a:prstGeom prst="roundRect">
            <a:avLst>
              <a:gd name="adj" fmla="val 6329"/>
            </a:avLst>
          </a:prstGeom>
          <a:solidFill>
            <a:srgbClr val="F4F6FA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347472" y="1892808"/>
            <a:ext cx="14447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14447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Booking.com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819656" y="2560320"/>
            <a:ext cx="219456" cy="0"/>
          </a:xfrm>
          <a:prstGeom prst="line">
            <a:avLst/>
          </a:prstGeom>
          <a:noFill/>
          <a:ln w="1524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1920240" y="2432304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3864"/>
                </a:solidFill>
              </a:rPr>
              <a:t>▶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048256" y="1691640"/>
            <a:ext cx="1444752" cy="1737360"/>
          </a:xfrm>
          <a:prstGeom prst="roundRect">
            <a:avLst>
              <a:gd name="adj" fmla="val 6329"/>
            </a:avLst>
          </a:prstGeom>
          <a:solidFill>
            <a:srgbClr val="F4F6FA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2048256" y="1892808"/>
            <a:ext cx="14447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048256" y="2606040"/>
            <a:ext cx="14447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spaCy · NLTK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langdetect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520440" y="2560320"/>
            <a:ext cx="219456" cy="0"/>
          </a:xfrm>
          <a:prstGeom prst="line">
            <a:avLst/>
          </a:prstGeom>
          <a:noFill/>
          <a:ln w="1524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3621024" y="2432304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3864"/>
                </a:solidFill>
              </a:rPr>
              <a:t>▶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749040" y="1691640"/>
            <a:ext cx="1444752" cy="1737360"/>
          </a:xfrm>
          <a:prstGeom prst="roundRect">
            <a:avLst>
              <a:gd name="adj" fmla="val 6329"/>
            </a:avLst>
          </a:prstGeom>
          <a:solidFill>
            <a:srgbClr val="E3EDFB"/>
          </a:solidFill>
          <a:ln w="6350">
            <a:solidFill>
              <a:srgbClr val="AFC5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3749040" y="1892808"/>
            <a:ext cx="14447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749040" y="2606040"/>
            <a:ext cx="14447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nlptown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221224" y="2560320"/>
            <a:ext cx="219456" cy="0"/>
          </a:xfrm>
          <a:prstGeom prst="line">
            <a:avLst/>
          </a:prstGeom>
          <a:noFill/>
          <a:ln w="1524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5321808" y="2432304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3864"/>
                </a:solidFill>
              </a:rPr>
              <a:t>▶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49824" y="1691640"/>
            <a:ext cx="1444752" cy="1737360"/>
          </a:xfrm>
          <a:prstGeom prst="roundRect">
            <a:avLst>
              <a:gd name="adj" fmla="val 6329"/>
            </a:avLst>
          </a:prstGeom>
          <a:solidFill>
            <a:srgbClr val="E3EDFB"/>
          </a:solidFill>
          <a:ln w="6350">
            <a:solidFill>
              <a:srgbClr val="AFC5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5449824" y="1892808"/>
            <a:ext cx="14447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49824" y="2606040"/>
            <a:ext cx="14447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BERTopic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922008" y="2560320"/>
            <a:ext cx="219456" cy="0"/>
          </a:xfrm>
          <a:prstGeom prst="line">
            <a:avLst/>
          </a:prstGeom>
          <a:noFill/>
          <a:ln w="1524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7022592" y="2432304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3864"/>
                </a:solidFill>
              </a:rPr>
              <a:t>▶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150608" y="1691640"/>
            <a:ext cx="1444752" cy="1737360"/>
          </a:xfrm>
          <a:prstGeom prst="roundRect">
            <a:avLst>
              <a:gd name="adj" fmla="val 6329"/>
            </a:avLst>
          </a:prstGeom>
          <a:solidFill>
            <a:srgbClr val="F4F6FA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/>
          <p:nvPr/>
        </p:nvSpPr>
        <p:spPr>
          <a:xfrm>
            <a:off x="7150608" y="1892808"/>
            <a:ext cx="14447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150608" y="2606040"/>
            <a:ext cx="14447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Cagliari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Olbia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37490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step eseguiti in sequenza su 15.509 recensioni in italiano e inglese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Afflusso turistico: volumi per finestra temporale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" name="Image 0" descr="/sessions/funny-elegant-bohr/mnt/WAAT America's Cup/results/volumetric_analysi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024128"/>
            <a:ext cx="5303520" cy="3703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89320" y="1078992"/>
            <a:ext cx="292608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Recensioni during +81% rispetto allo stesso periodo 2025 (333 vs 184)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Pre-evento già in crescita: +19.6% vs baseline 2025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Picco concentrato in 4 giorni di regata (21–24 mag)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Sentiment score: Cagliari vs Olbia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" name="Image 0" descr="/sessions/funny-elegant-bohr/mnt/WAAT America's Cup/results/sentiment_score_compariso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024128"/>
            <a:ext cx="5303520" cy="3703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89320" y="1078992"/>
            <a:ext cx="292608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Cagliari during: +0.563 — valore minimo del 2026 per la città ospitante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Olbia during: +0.895 — il massimo tra tutti i periodi per la città di controllo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Divergenza sincronica: segnale specifico dell'America's Cup, non stagionale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Distribuzione pos / neutro / neg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" name="Image 0" descr="/sessions/funny-elegant-bohr/mnt/WAAT America's Cup/results/sentiment_distributio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024128"/>
            <a:ext cx="5303520" cy="3703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89320" y="1078992"/>
            <a:ext cx="292608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Quota 'neutro' Cagliari during: 26.4% (era 8.5% nel pre — quasi triplicata)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Positivo Cagliari during: 73.3% vs 89.9% nel pre-evento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Segnale di soddisfazione ridotta, non negativa: sovraffollamento percepito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Divergenza sincronica: heatmap sentiment per città e finestra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" name="Image 0" descr="/sessions/funny-elegant-bohr/mnt/WAAT America's Cup/results/sentiment_heatmap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024128"/>
            <a:ext cx="5303520" cy="3703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89320" y="1078992"/>
            <a:ext cx="292608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Cella più verde: Olbia during (+0.895) — massimo assoluto del dataset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Cella più rossa: Cagliari during (+0.563) — minimo per la città ospitante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griglia rende immediata la divergenza sincronica tra le due città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Confronto 2026 vs baseline 2025 — Cagliari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" name="Image 0" descr="/sessions/funny-elegant-bohr/mnt/WAAT America's Cup/results/exploratory/temporal_cagliari_2026_vs_2025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024128"/>
            <a:ext cx="5303520" cy="3703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89320" y="1078992"/>
            <a:ext cx="292608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during 2026: +0.563 vs +0.794 nel 2025 (calo del −29%)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during 2026: 8.65 vs ~8.9 nel 2025 — stesso segno del sentiment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2026 supera il baseline: +0.736 vs +0.672 — effetto 'coda positiva'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Rating per finestra temporale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" name="Image 0" descr="/sessions/funny-elegant-bohr/mnt/WAAT America's Cup/results/exploratory/temporal_rating_boxplo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024128"/>
            <a:ext cx="5303520" cy="3703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89320" y="1078992"/>
            <a:ext cx="292608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Cagliari: 9.20 (pre) → 8.65 (during) → 9.16 (post)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durante: 1.134 vs 0.888 nel pre — maggiore variabilità nelle esperienze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Olbia: pattern opposto, picco durante l'evento (rating medio 9.64)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Topic modeling: heatmap temi negativi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" name="Image 0" descr="/sessions/funny-elegant-bohr/mnt/WAAT America's Cup/results/topics_neg_heatmap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024128"/>
            <a:ext cx="5303520" cy="3703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89320" y="1078992"/>
            <a:ext cx="292608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During: T0 (camera/colazione) al 24.4% e T4 (qualità-prezzo) al 21.2% — picco di insoddisfazione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Rumore e parcheggio emergono nel periodo di regata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Temi positivi stabili in tutte le finestre: posizione, pulizia, personale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BERTopic: cluster semantici nelle recensioni negative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" name="Image 0" descr="/sessions/funny-elegant-bohr/mnt/WAAT America's Cup/results/bertopic_cluster_negativ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024128"/>
            <a:ext cx="5303520" cy="3703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89320" y="1078992"/>
            <a:ext cx="292608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-1 (outlier) domina: testi negativi brevi e molto eterogenei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 (rumore/parcheggio) è la principale criticità reale identificata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Dimensione bolla proporzionale alle occorrenze Cagliari + Olbia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C8A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Temi ricorrenti durante la regata — Cagliari</a:t>
            </a:r>
            <a:endParaRPr lang="en-US" sz="2700" dirty="0"/>
          </a:p>
        </p:txBody>
      </p:sp>
      <p:pic>
        <p:nvPicPr>
          <p:cNvPr id="4" name="Image 0" descr="/sessions/funny-elegant-bohr/mnt/WAAT America's Cup/results/topic_modeling/wordcloud_cagliari_during_positiv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914400"/>
            <a:ext cx="4114800" cy="3474720"/>
          </a:xfrm>
          <a:prstGeom prst="rect">
            <a:avLst/>
          </a:prstGeom>
        </p:spPr>
      </p:pic>
      <p:pic>
        <p:nvPicPr>
          <p:cNvPr id="5" name="Image 1" descr="/sessions/funny-elegant-bohr/mnt/WAAT America's Cup/results/topic_modeling/wordcloud_cagliari_during_negativ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54880" y="914400"/>
            <a:ext cx="4114800" cy="34747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74320" y="446227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Recensioni positive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4754880" y="446227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Recensioni negative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Conclusioni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Aumento degli arrivi: +81% di recensioni during vs 2025 — impatto volumetrico dell'evento confermato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Peggioramento del sentiment during: −29% vs baseline 2025; Olbia non mostra lo stesso calo — segnale specifico di Cagliari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Recupero post-evento: sentiment Cagliari a +0.762 nel post, il più alto del 2026 — effetto 'coda positiva'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stabili (posizione, pulizia, colazione, personale) in tutte le finestre; rumore e traffico emergono solo during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397764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640080" y="4041648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15.509 recensioni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2 città  ·  3 finestre temporali  ·  nlptown + LDA + BERTopic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28016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C8A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Grazie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2286000" y="2834640"/>
            <a:ext cx="4572000" cy="0"/>
          </a:xfrm>
          <a:prstGeom prst="line">
            <a:avLst/>
          </a:prstGeom>
          <a:noFill/>
          <a:ln w="9525">
            <a:solidFill>
              <a:srgbClr val="C8A84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914400" y="3017520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Matteo Cambarau  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35478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Codice e dati disponibili nel repository di progetto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699</Words>
  <Application>Microsoft Macintosh PowerPoint</Application>
  <PresentationFormat>Presentazione su schermo (16:9)</PresentationFormat>
  <Paragraphs>128</Paragraphs>
  <Slides>15</Slides>
  <Notes>15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America's Cup 2026 — Analisi NLP</dc:title>
  <dc:subject>Web Analytics e Analisi Testuale — DSBAI UniCA</dc:subject>
  <dc:creator>Matteo Cambarau</dc:creator>
  <cp:lastModifiedBy>MATTEO CAMBARAU</cp:lastModifiedBy>
  <cp:revision>2</cp:revision>
  <dcterms:created xsi:type="dcterms:W3CDTF">2026-06-24T08:48:11Z</dcterms:created>
  <dcterms:modified xsi:type="dcterms:W3CDTF">2026-06-24T09:40:26Z</dcterms:modified>
</cp:coreProperties>
</file>